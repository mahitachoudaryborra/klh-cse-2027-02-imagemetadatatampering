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338" r:id="rId3"/>
    <p:sldId id="322" r:id="rId4"/>
    <p:sldId id="351" r:id="rId5"/>
    <p:sldId id="357" r:id="rId6"/>
    <p:sldId id="350" r:id="rId7"/>
    <p:sldId id="352" r:id="rId8"/>
    <p:sldId id="359" r:id="rId9"/>
    <p:sldId id="353" r:id="rId10"/>
    <p:sldId id="354" r:id="rId11"/>
    <p:sldId id="358" r:id="rId12"/>
    <p:sldId id="355" r:id="rId13"/>
    <p:sldId id="356" r:id="rId14"/>
    <p:sldId id="332" r:id="rId15"/>
  </p:sldIdLst>
  <p:sldSz cx="12192000" cy="6858000"/>
  <p:notesSz cx="7102475" cy="9037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58"/>
    <p:restoredTop sz="95833"/>
  </p:normalViewPr>
  <p:slideViewPr>
    <p:cSldViewPr snapToGrid="0" snapToObjects="1">
      <p:cViewPr varScale="1">
        <p:scale>
          <a:sx n="78" d="100"/>
          <a:sy n="78" d="100"/>
        </p:scale>
        <p:origin x="7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ithi V" userId="64e6e7267afaf49f" providerId="LiveId" clId="{BE6A63EE-A706-4515-9F2B-C0932533D30C}"/>
    <pc:docChg chg="modSld">
      <pc:chgData name="Sahithi V" userId="64e6e7267afaf49f" providerId="LiveId" clId="{BE6A63EE-A706-4515-9F2B-C0932533D30C}" dt="2026-08-22T04:29:14.483" v="6" actId="1076"/>
      <pc:docMkLst>
        <pc:docMk/>
      </pc:docMkLst>
      <pc:sldChg chg="modSp mod">
        <pc:chgData name="Sahithi V" userId="64e6e7267afaf49f" providerId="LiveId" clId="{BE6A63EE-A706-4515-9F2B-C0932533D30C}" dt="2026-08-22T04:29:14.483" v="6" actId="1076"/>
        <pc:sldMkLst>
          <pc:docMk/>
          <pc:sldMk cId="0" sldId="338"/>
        </pc:sldMkLst>
        <pc:spChg chg="mod">
          <ac:chgData name="Sahithi V" userId="64e6e7267afaf49f" providerId="LiveId" clId="{BE6A63EE-A706-4515-9F2B-C0932533D30C}" dt="2026-08-22T04:28:48.570" v="2" actId="1076"/>
          <ac:spMkLst>
            <pc:docMk/>
            <pc:sldMk cId="0" sldId="338"/>
            <ac:spMk id="2" creationId="{00000000-0000-0000-0000-000000000000}"/>
          </ac:spMkLst>
        </pc:spChg>
        <pc:spChg chg="mod">
          <ac:chgData name="Sahithi V" userId="64e6e7267afaf49f" providerId="LiveId" clId="{BE6A63EE-A706-4515-9F2B-C0932533D30C}" dt="2026-08-22T04:28:43.136" v="1" actId="1076"/>
          <ac:spMkLst>
            <pc:docMk/>
            <pc:sldMk cId="0" sldId="338"/>
            <ac:spMk id="3" creationId="{00000000-0000-0000-0000-000000000000}"/>
          </ac:spMkLst>
        </pc:spChg>
        <pc:spChg chg="mod">
          <ac:chgData name="Sahithi V" userId="64e6e7267afaf49f" providerId="LiveId" clId="{BE6A63EE-A706-4515-9F2B-C0932533D30C}" dt="2026-08-22T04:29:11.150" v="5" actId="1076"/>
          <ac:spMkLst>
            <pc:docMk/>
            <pc:sldMk cId="0" sldId="338"/>
            <ac:spMk id="9" creationId="{00000000-0000-0000-0000-000000000000}"/>
          </ac:spMkLst>
        </pc:spChg>
        <pc:spChg chg="mod">
          <ac:chgData name="Sahithi V" userId="64e6e7267afaf49f" providerId="LiveId" clId="{BE6A63EE-A706-4515-9F2B-C0932533D30C}" dt="2026-08-22T04:28:35.103" v="0" actId="1076"/>
          <ac:spMkLst>
            <pc:docMk/>
            <pc:sldMk cId="0" sldId="338"/>
            <ac:spMk id="10" creationId="{00000000-0000-0000-0000-000000000000}"/>
          </ac:spMkLst>
        </pc:spChg>
        <pc:picChg chg="mod">
          <ac:chgData name="Sahithi V" userId="64e6e7267afaf49f" providerId="LiveId" clId="{BE6A63EE-A706-4515-9F2B-C0932533D30C}" dt="2026-08-22T04:29:14.483" v="6" actId="1076"/>
          <ac:picMkLst>
            <pc:docMk/>
            <pc:sldMk cId="0" sldId="338"/>
            <ac:picMk id="7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6171" cy="45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22-08-2026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22-08-2026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22-08-2026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22-08-2026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REVIEW – 1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609" y="556335"/>
            <a:ext cx="10515600" cy="110082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da-DK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CAPSTONE PROJECT – 1/INDUSTRIAL INTERNSHIP/ INDUSTRIAL INTERNSHIP PHASE-I</a:t>
            </a:r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Review-1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Metadata and Tampering Detection System for Digital Forensic Investigation</a:t>
            </a:r>
            <a:endParaRPr lang="en-US" altLang="en-US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2247" y="2085263"/>
            <a:ext cx="10515600" cy="13000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1800" b="1" dirty="0"/>
              <a:t>Team Members</a:t>
            </a:r>
          </a:p>
          <a:p>
            <a:pPr marL="0" indent="0" algn="ctr">
              <a:buNone/>
            </a:pPr>
            <a:r>
              <a:rPr lang="en-IN" sz="1800" b="1" dirty="0"/>
              <a:t>Roll No		Name</a:t>
            </a:r>
            <a:endParaRPr lang="en-US" sz="2000" b="1" dirty="0"/>
          </a:p>
          <a:p>
            <a:pPr marL="0" indent="0" algn="ctr">
              <a:buNone/>
            </a:pPr>
            <a:r>
              <a:rPr lang="en-IN" sz="1400" dirty="0"/>
              <a:t>2320030488		N. Narasimha</a:t>
            </a:r>
          </a:p>
          <a:p>
            <a:pPr marL="0" indent="0" algn="ctr">
              <a:buNone/>
            </a:pPr>
            <a:r>
              <a:rPr lang="en-IN" sz="1400" dirty="0"/>
              <a:t>2320030289		K. Shivani</a:t>
            </a:r>
          </a:p>
          <a:p>
            <a:pPr marL="0" indent="0" algn="ctr">
              <a:buNone/>
            </a:pPr>
            <a:r>
              <a:rPr lang="en-IN" sz="1400" dirty="0"/>
              <a:t>2320030057		B. Mahita</a:t>
            </a:r>
          </a:p>
          <a:p>
            <a:pPr marL="0" indent="0" algn="ctr">
              <a:buNone/>
            </a:pPr>
            <a:r>
              <a:rPr lang="en-IN" sz="1400" dirty="0"/>
              <a:t>2320030032		K. Srikar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  <a:t>22-08-2026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70334" y="5158159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61417" y="3700000"/>
            <a:ext cx="10515600" cy="16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Under the Guidance of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Dr. N. Chaitanya Kumar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Dept. of Computer Science and Engineering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395" y="5283282"/>
            <a:ext cx="2175809" cy="8979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PRC-I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0158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images shared through social media, messaging apps, and cloud platforms are increasingly used as evidence, yet they can easily be altered using photo-editing software or metadata manipulation, undermining their reliability in investigations.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forensic verification of images requires specialized tools and expertise, limiting access for educational and small-scale investigative settings.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EXIF metadata extraction and rule-based forensic checks to assess whether a digital image shows signs of tampering.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moves beyond a raw metadata dump toward an interpretable forensic risk score and a category verdict -- Safe, Low Risk, Suspicious, or Likely Edited.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digital forensic investigations, journalism and fact-checking, insurance claim review, and forensic science education.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3C34A4E9-B1D7-4F59-982A-7518E0054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24174-E81B-4768-8B99-C41881EF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84203-8F93-4071-A37C-6A9C3BB16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digital forensic tools for image verification are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and require specialized expertise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inaccessible for educational or small-scale investigative environments. Most tools extract raw EXIF metadata but leave investigators to manually interpret the fields, without flagging tampering indicators or producing an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trust assessment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image.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this gap by building an accessible, web-based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Metadata and Tampering Detection System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combines automated EXIF extraction, rule-based tampering checks, an interpretable forensic risk score, and a PDF investigation report.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85FB1-B28D-4C1B-A7FA-1B6AE4E2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5777"/>
            <a:ext cx="2743200" cy="365125"/>
          </a:xfrm>
        </p:spPr>
        <p:txBody>
          <a:bodyPr/>
          <a:lstStyle/>
          <a:p>
            <a:fld id="{C7A4DE8B-8D6B-8C46-B882-6A2CD2BC96F0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09634-64A3-451F-B3E1-F9F54FC1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D9CC9555-106F-46B4-BA3D-25EA6B87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1103198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web-based system that extracts EXIF metadata (camera model, resolution, timestamp, GPS, software used) from uploaded JPG, JPEG, and PNG images.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rule-based forensic checks to detect indicators such as missing or modified metadata, editing-software signatures, inconsistent timestamps, and absent GPS data.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forensic risk-scoring mechanism that classifies images into Safe, Low Risk, Suspicious, or Likely Edited categories.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PDF report generator and a searchable analysis history so investigators can reference and export findings.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53D0FDF3-DB89-46A2-B389-76810F8C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350000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approaches, research gaps, and why the proposed approach is needed -- based on 10 papers (2013 onwards).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7D7A9-8878-6941-85F0-B9C44D64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787444"/>
              </p:ext>
            </p:extLst>
          </p:nvPr>
        </p:nvGraphicFramePr>
        <p:xfrm>
          <a:off x="496000" y="1700000"/>
          <a:ext cx="11200000" cy="4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9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7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80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45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0917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998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 No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Title of the Paper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Objective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Techniques Used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Used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Parameters Analysed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Inference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Gap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DOI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2018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Huh, Liu, Owens, Efros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Fighting Fake News: Image Splice Detection via Learned Self-Consistency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ECCV (Springer)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Detect and localize image splices via metadata self-consistency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CNN trained using EXIF metadata as a self-supervisory signal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Large real-photo corpus with EXIF (no forged training images)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Splice localization 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State-of-the-art splice detection despite never training on manipulated images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Learns implicit visual consistency; no explicit rule-based metadata checks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ECCV proceedings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2025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Forensic Value of Exif Data: An Analytical Evaluation of Metadata Integrity across Image Transfer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Perspectives in Legal and Forensic Sciences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Assess EXIF metadata integrity across transfer channels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Forensic tool comparison (ExifTool, Magnet AXIOM, FTK, XRY)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Android/iOS captured images + Flickr Creative Commons 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Metadata field preservation, file hash integrity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USB/email preserve EXIF fully; messaging apps (WhatsApp, Instagram, etc.) strip or alter metadata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Doesn't propose an automated tampering classifier; measurement study only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10.70322/plfs.2025.10006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2013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Fan, Cao, Kot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Estimating Exif Parameters Based on Noise Features for Image Manipulation Detection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Trans. on Information Forensics and Security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Infer camera EXIF parameters from sensor noise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Noise-feature-based parameter estimation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Camera images with known EXIF ground truth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EXIF parameter estimation 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Noise features can expose inconsistent or altered EXIF parameters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Narrow focus on noise modeling; no reporting or investigator-facing UI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4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Madake, Meshram, Mondhe, Mashalkar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Image Tampering Detection Using Error Level Analysis and Metadata Analysis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INCET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Combine ELA and metadata analysis for tampering detection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Error Level Analysis (ELA) + EXIF metadata analysis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JPEG image test 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Detection reliability across tampering types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ELA reliable for detecting splicing, compression, and retouching forgery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Doesn't compute a unified risk score or generate investigation reports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5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Padilha, Salem, Workman, Andaló, Rocha, Jacobs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Content-Aware Detection of Temporal Metadata Manipulation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Trans. on Information Forensics and Security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Detect manipulated timestamp metadata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Content-aware deep learning model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Images with known/altered timestamps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Detection accuracy for temporal tampering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Model detects timestamp manipulation using image content cues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Targets the timestamp field only, not the full metadata suite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F0CD418-099C-428F-95D7-1D5909D1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(contd.)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350000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Continued: papers 6-10 of the literature survey.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7D7A9-8878-6941-85F0-B9C44D64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787444"/>
              </p:ext>
            </p:extLst>
          </p:nvPr>
        </p:nvGraphicFramePr>
        <p:xfrm>
          <a:off x="496000" y="1700000"/>
          <a:ext cx="11200000" cy="4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9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7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80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45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0917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998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 No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Title of the Paper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Objective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Techniques Used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Used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Parameters Analysed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Inference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Gap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DOI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6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2026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Forensic Analysis for Source Camera Identification from EXIF Metadata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MDPI (Journal of Imaging)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Identify source camera via EXIF encoding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Type-aware word encoding of EXIF tags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Camera-tagged image collections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Camera identification 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Strong detection of anomalous camera behavior under controlled conditions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Vulnerable if metadata is forged; doesn't model inter-tag correlations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MDPI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7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 Forensic Methodology for Detecting Image Manipulations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arXiv preprint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Detect manipulation via metadata + mobile forensic artifacts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Exif/DQT/filename-signature parsing vs. reference database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Manipulated-image and mobile-artifact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False positive rate, detection coverage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Combining metadata with mobile-app artifacts reduces false positives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Requires a maintained reference database of manipulation traces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arXiv:2308.04723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8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Image Forensic Tool (IFT): Image Retrieval, Tampering Detection, and Classification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Book chapter (Springer)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Retrieve images from forensic disk images and detect tampering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Active + passive tampering detection prototype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Digital evidence disk images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Detection/classification 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Demonstrated an end-to-end retrieval-plus-detection prototype tool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Prototype-level tool; lacks a graded, interpretable risk score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publisher site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9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2018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Mohammad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 Neural Network Based Digital Forensics Classification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AICCSA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Classify forensic artifacts using neural networks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Feed-forward neural network classifier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Digital forensic artifact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Classification 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Neural network improved forensic artifact classification over baselines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Not focused specifically on image metadata; no reporting module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2025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Image Tampering Detection Using Deep Learning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Springer (Conference chapter)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Combine CNN, ELA, and metadata analysis in a GUI tool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CNN + Error Level Analysis + metadata/signature/color analysis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Labeled tampered/authentic image dataset (80:10:10 split)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 across signature, color, and metadata cues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GUI web app gives investigators intuitive tampering predictions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Deep-learning heavy; less accessible for low-resource or educational settings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Springer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F0CD418-099C-428F-95D7-1D5909D1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Identification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52B6941-B56F-78EF-6572-0086C4B2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650000"/>
          </a:xfrm>
        </p:spPr>
        <p:txBody>
          <a:bodyPr>
            <a:norm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400" b="1" dirty="0"/>
              <a:t>Research gap identification</a:t>
            </a:r>
            <a:r>
              <a:rPr lang="en-IN" sz="1400" dirty="0"/>
              <a:t> involves </a:t>
            </a:r>
            <a:r>
              <a:rPr lang="en-IN" sz="1400" dirty="0" err="1"/>
              <a:t>analyzing</a:t>
            </a:r>
            <a:r>
              <a:rPr lang="en-IN" sz="1400" dirty="0"/>
              <a:t> existing literature to identify unresolved issues. Across the papers surveyed, most systems either use heavy deep-learning pipelines or stop at raw metadata extraction without an interpretable, rule-based risk verdict -- this is the gap our project targets.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F1EDB7-8761-CEC4-B291-FF5C19314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712854"/>
              </p:ext>
            </p:extLst>
          </p:nvPr>
        </p:nvGraphicFramePr>
        <p:xfrm>
          <a:off x="496000" y="2250000"/>
          <a:ext cx="11200000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6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6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S.No.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Paper Title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 Name(s)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Methodology / Model Used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 Findings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Gap Identified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Image Splice Detection via Self-Consistency (2018)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Huh, Liu, Owens, Efros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CNN + EXIF self-supervision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SOTA splice detection without training on manipulated images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No explicit rule-based metadata checks or risk scoring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Forensic Value of Exif Data (2025)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Cross-platform EXIF integrity study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Messaging apps strip EXIF; USB/email preserve it fully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No automated classifier or investigator-facing verdict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Noise-Based EXIF Parameter Estimation (2013)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Fan, Cao, Kot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Noise-feature parameter estimation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Sensor noise reveals inconsistent EXIF parameters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No unified reporting or UI for investigators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4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ELA + Metadata Analysis (2023)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Madake, Meshram, Mondhe, Mashalkar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Error Level Analysis + EXIF metadata analysis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Reliable across splicing, compression, and retouching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No graded risk score or PDF report generation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5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Temporal Metadata Manipulation Detection (2022)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Padilha, Salem, Workman, Andaló, Rocha, Jacobs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Content-aware deep learning model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Detects altered timestamps using image content cues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Limited to the timestamp field only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6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Source Camera ID from EXIF (2026)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Type-aware EXIF tag encoding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Detects anomalous camera behavior from metadata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Assumes metadata is genuine; ignores tag correlations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7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Forensic Methodology for Image Manipulation (2023)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Metadata + mobile artifact parsing vs. reference DB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Reduces false positives vs. content-only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Needs a maintained manipulation-trace reference database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8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Image Tampering Detection Using Deep Learning (2025)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CNN + ELA + metadata GUI tool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Intuitive tampering predictions via a web GUI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Compute-heavy; not lightweight or rule-based for education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A2691C9-D5FC-4B5D-BC2B-27DFE115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a black-box binary verdict, the system translates rule-based EXIF checks into a graded, interpretable forensic risk score (Safe, Low Risk, Suspicious, Likely Edited), giving investigators a transparent basis for the classification instead of a single opaque label.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lightweight, explainable rule-based forensic checks (metadata fields, editing-software signatures, timestamps, GPS data) with automated PDF report generation and a searchable case history, packaging a full investigative workflow into one accessible web application.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/ Research Gap Addressed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literature (see Literature Survey) is split between heavy deep-learning pipelines that lack transparency and pure metadata-integrity studies that stop at measurement. This project bridges both by turning rule-based metadata analysis into an actionable, interpretable, and reportable forensic decision-support tool accessible without specialized expertise.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444AC3EB-3F86-4AA5-854B-7AEEB8EE2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formats: JPG, JPEG, and PNG all carry standard EXIF metadata, extractable with free, open-source libraries (e.g., ExifTool, Pillow/exifread in Python) -- no specialized hardware required.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Python/web stack, EXIF-parsing libraries, and a PDF-generation library -- all free, open-source, and already set up.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skills and timeline are sufficient to deliver the core metadata-extraction and rule-based scoring pipeline within the project timeframe; advanced ML-based tampering cues are scoped as a stretch goal.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(Weeks 1-2): Requirement analysis, literature survey, and design of the EXIF extraction and rule-based check pipeline.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(Weeks 3-4): Implement metadata extraction, tampering-indicator rules, and the forensic risk-scoring logic.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(Weeks 5-6): Build the web upload interface, PDF report generator, and searchable analysis history.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 (Stretch): Explore ML-based tampering cues (e.g., Error Level Analysis, noise-based checks) to complement the rule-based score.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85505740-31D0-4B8F-B93F-9E8CA50A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289363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Verifying the authenticity of digital images is a growing forensic need, yet most existing tools either require specialized expertise or stop at raw metadata extraction without an interpretable verdict.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web-based system that extracts EXIF metadata, applies rule-based tampering checks, and produces a graded forensic risk score along with a PDF investigation report.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progress: project scope finalized, abstract approved, and system architecture for metadata extraction and rule-based scoring under design.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 for PRC-II: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 EXIF extraction and rule-based tampering-check pipeline.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demo the web upload interface with risk-score classification.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the PDF report generator and searchable analysis history.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2D31941C-C503-4469-8755-454FE6062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0347CC-6603-A42B-AFAE-07AE7DD4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Huh, M., Liu, A., Owens, A., Efros, A.A. (2018). Fighting fake news: Image splice detection via learned self-consistency. ECCV.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Forensic value of Exif data: An analytical evaluation of metadata integrity across image transfer methods (2025). Perspectives in Legal and Forensic Sciences.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Fan, J., Cao, H., Kot, A.C. (2013). Estimating Exif parameters based on noise features for image manipulation detection. IEEE Trans. on Information Forensics and Security, 8(4), 608-618.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Madake, J., Meshram, J., Mondhe, A., Mashalkar, P. (2023). Image tampering detection using error level analysis and metadata analysis. IEEE INCET.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Padilha, R., Salem, T., Workman, S., Andaló, F.A., Rocha, A., Jacobs, N. (2022). Content-aware detection of temporal metadata manipulation. IEEE Trans. on Information Forensics and Security, 17, 1316-1327.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Forensic analysis for source camera identification from EXIF metadata (2026). MDPI Journal of Imaging.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forensic methodology for detecting image manipulations (2023). arXiv:2308.04723.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Forensic Tool (IFT): Image retrieval, tampering detection, and classification (2021). Springer book chapter.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Mohammad, R.M. (2018). A neural network based digital forensics classification. IEEE AICCSA.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tampering detection using deep learning (2025). Springer conference chapter.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2D22C802-FAC0-4996-9438-F4455D72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  <a:t>22-08-2026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10A2BD5-B048-435C-9BAE-2FCD9270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2656</Words>
  <Application>Microsoft Office PowerPoint</Application>
  <PresentationFormat>Widescreen</PresentationFormat>
  <Paragraphs>392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Custom Design</vt:lpstr>
      <vt:lpstr>ENGINEERING CAPSTONE PROJECT – 1/INDUSTRIAL INTERNSHIP/ INDUSTRIAL INTERNSHIP PHASE-I Project Review-1  AI-Based Fake News Detection and Credibility Analysis System</vt:lpstr>
      <vt:lpstr>OUTLINE</vt:lpstr>
      <vt:lpstr>Introduction</vt:lpstr>
      <vt:lpstr>Problem Statement</vt:lpstr>
      <vt:lpstr>Objectives </vt:lpstr>
      <vt:lpstr>Literature Survey</vt:lpstr>
      <vt:lpstr>Literature Survey (contd.)</vt:lpstr>
      <vt:lpstr>Research Gap Identification</vt:lpstr>
      <vt:lpstr>Innovation, Creativity, and Novelty</vt:lpstr>
      <vt:lpstr>Feasibility and Project Plan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Sahithi V</cp:lastModifiedBy>
  <cp:revision>194</cp:revision>
  <cp:lastPrinted>2025-06-24T13:51:00Z</cp:lastPrinted>
  <dcterms:created xsi:type="dcterms:W3CDTF">2022-05-20T10:20:00Z</dcterms:created>
  <dcterms:modified xsi:type="dcterms:W3CDTF">2026-08-22T04:29:14Z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8501A877F9FA4B8DAC5FC0ABD71A7E4E_12</vt:lpwstr>
  </property>
  <property fmtid="{D5CDD505-2E9C-101B-9397-08002B2CF9AE}" pid="3" name="KSOProductBuildVer">
    <vt:lpwstr>1033-12.2.0.23196</vt:lpwstr>
  </property>
</Properties>
</file>